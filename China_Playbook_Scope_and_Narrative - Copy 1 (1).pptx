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12T13:25:47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207ED-6ABB-4872-9B62-49CE841A8EEF}" type="datetimeFigureOut"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A1F61-3179-433F-8F7E-3D3CFAD658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9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The paper runs from what happened to what established makers should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narrative of The China Playbook for Emerging Asia: one question, four parts, nine chapters and six lessons</a:t>
            </a:r>
            <a:endParaRPr lang="en-US" sz="1300" dirty="0"/>
          </a:p>
        </p:txBody>
      </p:sp>
      <p:sp>
        <p:nvSpPr>
          <p:cNvPr id="4" name="Question"/>
          <p:cNvSpPr/>
          <p:nvPr/>
        </p:nvSpPr>
        <p:spPr>
          <a:xfrm>
            <a:off x="457200" y="1216152"/>
            <a:ext cx="7726680" cy="1069848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7360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Chinese makers win so much of the industrial-equipment market in India and Southeast Asia, through which buyers, dealers and partners, and what should established makers and their dealers learn from it?</a:t>
            </a:r>
            <a:endParaRPr lang="en-US" sz="1000" dirty="0"/>
          </a:p>
        </p:txBody>
      </p:sp>
      <p:sp>
        <p:nvSpPr>
          <p:cNvPr id="6" name="Scope"/>
          <p:cNvSpPr/>
          <p:nvPr/>
        </p:nvSpPr>
        <p:spPr>
          <a:xfrm>
            <a:off x="8366760" y="1216152"/>
            <a:ext cx="3364992" cy="1069848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03920" y="1307592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 </a:t>
            </a: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Indonesia in depth; Thailand, Malaysia via trade data and cases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</a:t>
            </a: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equipment, forklifts, factory machines, pumps, compressors, generators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 </a:t>
            </a: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2019 to 2024; company data to Sep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0540" y="2286000"/>
            <a:ext cx="0" cy="13716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28648" y="2423160"/>
            <a:ext cx="8931656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28648" y="2423160"/>
            <a:ext cx="0" cy="18288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8728" y="2423160"/>
            <a:ext cx="0" cy="18288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88808" y="2423160"/>
            <a:ext cx="0" cy="18288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60304" y="2423160"/>
            <a:ext cx="0" cy="18288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ART I"/>
          <p:cNvSpPr/>
          <p:nvPr/>
        </p:nvSpPr>
        <p:spPr>
          <a:xfrm>
            <a:off x="457200" y="2606040"/>
            <a:ext cx="2342896" cy="1188720"/>
          </a:xfrm>
          <a:prstGeom prst="roundRect">
            <a:avLst>
              <a:gd name="adj" fmla="val 3846"/>
            </a:avLst>
          </a:prstGeom>
          <a:solidFill>
            <a:srgbClr val="EEF4FF"/>
          </a:solidFill>
          <a:ln w="14604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2697480"/>
            <a:ext cx="212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makers went abroad when home sales collapsed and stayed because it paid. Japanese brands lost the most.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2854960" y="3127248"/>
            <a:ext cx="118872" cy="14630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RT II"/>
          <p:cNvSpPr/>
          <p:nvPr/>
        </p:nvSpPr>
        <p:spPr>
          <a:xfrm>
            <a:off x="3028696" y="2606040"/>
            <a:ext cx="3560064" cy="1188720"/>
          </a:xfrm>
          <a:prstGeom prst="roundRect">
            <a:avLst>
              <a:gd name="adj" fmla="val 3846"/>
            </a:avLst>
          </a:prstGeom>
          <a:solidFill>
            <a:srgbClr val="EAF7F5"/>
          </a:solidFill>
          <a:ln w="14604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138424" y="2697480"/>
            <a:ext cx="3340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won the everyday end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made machines easier to buy and easier to sell, and produced locally before barriers rose.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643624" y="3127248"/>
            <a:ext cx="118872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ART III"/>
          <p:cNvSpPr/>
          <p:nvPr/>
        </p:nvSpPr>
        <p:spPr>
          <a:xfrm>
            <a:off x="6817360" y="2606040"/>
            <a:ext cx="2342896" cy="118872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4604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927088" y="2697480"/>
            <a:ext cx="212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100">
                <a:solidFill>
                  <a:srgbClr val="536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536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stops, and where it is moving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>
                <a:solidFill>
                  <a:srgbClr val="536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holds the costly end. The line moves where Chinese makers own the route or bring a new machine.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215120" y="3127248"/>
            <a:ext cx="118872" cy="146304"/>
          </a:xfrm>
          <a:prstGeom prst="triangle">
            <a:avLst/>
          </a:prstGeom>
          <a:solidFill>
            <a:srgbClr val="53657D"/>
          </a:solidFill>
          <a:ln w="1270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ART IV"/>
          <p:cNvSpPr/>
          <p:nvPr/>
        </p:nvSpPr>
        <p:spPr>
          <a:xfrm>
            <a:off x="9388856" y="2606040"/>
            <a:ext cx="2342896" cy="1188720"/>
          </a:xfrm>
          <a:prstGeom prst="roundRect">
            <a:avLst>
              <a:gd name="adj" fmla="val 3846"/>
            </a:avLst>
          </a:prstGeom>
          <a:solidFill>
            <a:srgbClr val="E8EDF4"/>
          </a:solidFill>
          <a:ln w="14604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498584" y="2697480"/>
            <a:ext cx="212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1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established makers should do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blind spots let them in. Most can be closed with assets established makers already own.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28648" y="379476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0064" y="3931920"/>
            <a:ext cx="1217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20064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37232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8728" y="379476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91560" y="3931920"/>
            <a:ext cx="243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91560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8728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25896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88808" y="379476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80224" y="3931920"/>
            <a:ext cx="1217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80224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97392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560304" y="379476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51720" y="3931920"/>
            <a:ext cx="1217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51720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168888" y="393192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hapter 1"/>
          <p:cNvSpPr/>
          <p:nvPr/>
        </p:nvSpPr>
        <p:spPr>
          <a:xfrm>
            <a:off x="457200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went abroad; Japanese brands lost most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cause and who lost</a:t>
            </a:r>
            <a:endParaRPr lang="en-US" sz="950" dirty="0"/>
          </a:p>
        </p:txBody>
      </p:sp>
      <p:sp>
        <p:nvSpPr>
          <p:cNvPr id="47" name="Chapter 2"/>
          <p:cNvSpPr/>
          <p:nvPr/>
        </p:nvSpPr>
        <p:spPr>
          <a:xfrm>
            <a:off x="1674368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65808" y="4160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76580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765808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SANY won Indonesia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1765808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of moves building on each other</a:t>
            </a:r>
            <a:endParaRPr lang="en-US" sz="950" dirty="0"/>
          </a:p>
        </p:txBody>
      </p:sp>
      <p:sp>
        <p:nvSpPr>
          <p:cNvPr id="52" name="Chapter 3"/>
          <p:cNvSpPr/>
          <p:nvPr/>
        </p:nvSpPr>
        <p:spPr>
          <a:xfrm>
            <a:off x="3028696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EAF7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120136" y="41605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3120136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120136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buyers the leader serves thinly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3120136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Go where the leader is thin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Make buying easy when the leader can't</a:t>
            </a:r>
            <a:endParaRPr lang="en-US" sz="950" dirty="0"/>
          </a:p>
        </p:txBody>
      </p:sp>
      <p:sp>
        <p:nvSpPr>
          <p:cNvPr id="57" name="Chapter 4"/>
          <p:cNvSpPr/>
          <p:nvPr/>
        </p:nvSpPr>
        <p:spPr>
          <a:xfrm>
            <a:off x="4245864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EAF7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37304" y="41605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433730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337304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follow volume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337304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Give dealers and partners a reason to carry the brand</a:t>
            </a:r>
            <a:endParaRPr lang="en-US" sz="950" dirty="0"/>
          </a:p>
        </p:txBody>
      </p:sp>
      <p:sp>
        <p:nvSpPr>
          <p:cNvPr id="62" name="Chapter 5"/>
          <p:cNvSpPr/>
          <p:nvPr/>
        </p:nvSpPr>
        <p:spPr>
          <a:xfrm>
            <a:off x="5463032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EAF7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554472" y="41605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5554472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5554472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locally before the barriers rise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5554472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Produce locally before the barriers rise</a:t>
            </a:r>
            <a:endParaRPr lang="en-US" sz="950" dirty="0"/>
          </a:p>
        </p:txBody>
      </p:sp>
      <p:sp>
        <p:nvSpPr>
          <p:cNvPr id="67" name="Chapter 6"/>
          <p:cNvSpPr/>
          <p:nvPr/>
        </p:nvSpPr>
        <p:spPr>
          <a:xfrm>
            <a:off x="6817360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5365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908800" y="41605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69088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36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908800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holds the costly end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6908800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Where a breakdown is costly, established makers still win</a:t>
            </a:r>
            <a:endParaRPr lang="en-US" sz="950" dirty="0"/>
          </a:p>
        </p:txBody>
      </p:sp>
      <p:sp>
        <p:nvSpPr>
          <p:cNvPr id="72" name="Chapter 7"/>
          <p:cNvSpPr/>
          <p:nvPr/>
        </p:nvSpPr>
        <p:spPr>
          <a:xfrm>
            <a:off x="8034528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5365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125968" y="41605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812596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36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8125968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route, or stay at the cheap end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8125968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Owning the route, or a new kind of machine, moves the line</a:t>
            </a:r>
            <a:endParaRPr lang="en-US" sz="950" dirty="0"/>
          </a:p>
        </p:txBody>
      </p:sp>
      <p:sp>
        <p:nvSpPr>
          <p:cNvPr id="77" name="Chapter 8"/>
          <p:cNvSpPr/>
          <p:nvPr/>
        </p:nvSpPr>
        <p:spPr>
          <a:xfrm>
            <a:off x="9388856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480296" y="41605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9480296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9480296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blind spots that let them in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9480296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who used it, and the fix</a:t>
            </a:r>
            <a:endParaRPr lang="en-US" sz="950" dirty="0"/>
          </a:p>
        </p:txBody>
      </p:sp>
      <p:sp>
        <p:nvSpPr>
          <p:cNvPr id="82" name="Chapter 9"/>
          <p:cNvSpPr/>
          <p:nvPr/>
        </p:nvSpPr>
        <p:spPr>
          <a:xfrm>
            <a:off x="10606024" y="4069080"/>
            <a:ext cx="1125728" cy="201168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697464" y="41605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1069746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10697464" y="4507992"/>
            <a:ext cx="94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established makers and dealers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10697464" y="5276088"/>
            <a:ext cx="94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for makers and dealers; signals to watch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138160" y="6236208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 txBox="1"/>
          <p:nvPr/>
        </p:nvSpPr>
        <p:spPr>
          <a:xfrm>
            <a:off x="8476488" y="6217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372600" y="6236208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 txBox="1"/>
          <p:nvPr/>
        </p:nvSpPr>
        <p:spPr>
          <a:xfrm>
            <a:off x="9710928" y="6217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10561320" y="6217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to L6 = lessons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457200" y="6217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</a:t>
            </a:r>
            <a:endParaRPr lang="en-US" sz="1000" dirty="0"/>
          </a:p>
        </p:txBody>
      </p:sp>
      <p:sp>
        <p:nvSpPr>
          <p:cNvPr id="93" name="Rectangle 9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 ›  CHAPTER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Chapter 1: why Chinese makers went abroad, and why Japanese brands lost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in detail: what changed, why it happened, and four explanations that do not fit the evidence</a:t>
            </a:r>
            <a:endParaRPr lang="en-US" sz="1300" dirty="0"/>
          </a:p>
        </p:txBody>
      </p:sp>
      <p:sp>
        <p:nvSpPr>
          <p:cNvPr id="5" name="Ch1 root"/>
          <p:cNvSpPr/>
          <p:nvPr/>
        </p:nvSpPr>
        <p:spPr>
          <a:xfrm>
            <a:off x="457200" y="121615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161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CHAPTER 1 ASKS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industrial-equipment markets in India and Southeast Asia, who lost, and why did it happen?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32838" y="1874520"/>
            <a:ext cx="7482078" cy="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4476" y="1783080"/>
            <a:ext cx="0" cy="9144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32838" y="1874520"/>
            <a:ext cx="0" cy="13716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351276" cy="384048"/>
          </a:xfrm>
          <a:prstGeom prst="roundRect">
            <a:avLst>
              <a:gd name="adj" fmla="val 11905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20116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What changed?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93842" y="1874520"/>
            <a:ext cx="0" cy="13716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18204" y="2011680"/>
            <a:ext cx="3351276" cy="384048"/>
          </a:xfrm>
          <a:prstGeom prst="roundRect">
            <a:avLst>
              <a:gd name="adj" fmla="val 11905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027932" y="20116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Why did it happen?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14916" y="1874520"/>
            <a:ext cx="0" cy="13716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0" y="2011680"/>
            <a:ext cx="4233672" cy="384048"/>
          </a:xfrm>
          <a:prstGeom prst="roundRect">
            <a:avLst>
              <a:gd name="adj" fmla="val 11905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07808" y="2011680"/>
            <a:ext cx="4014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What does not explain it? Four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67587" y="2505456"/>
            <a:ext cx="1730502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32838" y="2395728"/>
            <a:ext cx="0" cy="109728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28591" y="2505456"/>
            <a:ext cx="1730502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93842" y="2395728"/>
            <a:ext cx="0" cy="109728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67587" y="2505456"/>
            <a:ext cx="0" cy="100584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162077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2606040"/>
            <a:ext cx="1437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the shift?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67587" y="3063240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1620774" cy="384048"/>
          </a:xfrm>
          <a:prstGeom prst="roundRect">
            <a:avLst>
              <a:gd name="adj" fmla="val 1190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3154680"/>
            <a:ext cx="1437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gained in 26 of 28 product markets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1620774" cy="2130552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30352" y="3703320"/>
            <a:ext cx="147447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or more of imports in 14 markets by 2024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excavators: 33% → 74%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self-propelled cranes: 35% → 93%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forklifts: 60–69% in all four countries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 shows origin; brand data is used where it exists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98089" y="2505456"/>
            <a:ext cx="0" cy="100584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87702" y="2606040"/>
            <a:ext cx="162077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279142" y="2606040"/>
            <a:ext cx="1437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lost?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98089" y="3063240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187702" y="3154680"/>
            <a:ext cx="1620774" cy="384048"/>
          </a:xfrm>
          <a:prstGeom prst="roundRect">
            <a:avLst>
              <a:gd name="adj" fmla="val 1190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2279142" y="3154680"/>
            <a:ext cx="1437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brands lost the most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87702" y="3611880"/>
            <a:ext cx="1620774" cy="2130552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260854" y="3703320"/>
            <a:ext cx="147447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Komatsu in Indonesia: 29% → 20% (2023–25)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Hitachi, excavators over 6t: 21% → 17%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import share: CNC lathes 46% → 26%, moulding machines 31% → 19%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Korea, Germany, Taiwan and India's crane maker also lost ground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8591" y="2505456"/>
            <a:ext cx="0" cy="100584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18204" y="2606040"/>
            <a:ext cx="162077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9644" y="2606040"/>
            <a:ext cx="1437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they go abroad?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28591" y="3063240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18204" y="3154680"/>
            <a:ext cx="1620774" cy="384048"/>
          </a:xfrm>
          <a:prstGeom prst="roundRect">
            <a:avLst>
              <a:gd name="adj" fmla="val 1190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009644" y="3154680"/>
            <a:ext cx="1437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at home collapsed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918204" y="3611880"/>
            <a:ext cx="1620774" cy="2130552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3991356" y="3703320"/>
            <a:ext cx="147447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excavator sales: 292,864 (2020) → 89,980 (2023), down 69%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exports (105,038) exceeded home sales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overseas revenue: 23% (2021) → nearly two-thirds (2025)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59093" y="2505456"/>
            <a:ext cx="0" cy="100584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648706" y="2606040"/>
            <a:ext cx="162077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740146" y="2606040"/>
            <a:ext cx="1437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they stay?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59093" y="3063240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648706" y="3154680"/>
            <a:ext cx="1620774" cy="384048"/>
          </a:xfrm>
          <a:prstGeom prst="roundRect">
            <a:avLst>
              <a:gd name="adj" fmla="val 1190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740146" y="3154680"/>
            <a:ext cx="1437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abroad paid better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48706" y="3611880"/>
            <a:ext cx="1620774" cy="2130552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721858" y="3703320"/>
            <a:ext cx="147447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kept rising after China recovered: +16.1% in 2025, +33.5% in H1 2026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gross margin 2024: 29.7% abroad, about 21% at home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aims for about 60% of sales overseas by 2030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35240" y="2395728"/>
            <a:ext cx="0" cy="2930652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35240" y="2967228"/>
            <a:ext cx="1371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772400" y="2606040"/>
            <a:ext cx="1143000" cy="722376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7845552" y="2606040"/>
            <a:ext cx="1014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</a:t>
            </a: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mining boom?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88552" y="2761488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8988552" y="27614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976104" y="2606040"/>
            <a:ext cx="1755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Komatsu sold fewer machines in a growing market. Thailand had no boom, and China's share still rose in most products.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35240" y="3753612"/>
            <a:ext cx="1371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772400" y="3392424"/>
            <a:ext cx="1143000" cy="722376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7845552" y="3392424"/>
            <a:ext cx="1014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</a:t>
            </a: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tariffs?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988552" y="3547872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8988552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9976104" y="3392424"/>
            <a:ext cx="1755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took 11.6% of China's construction-machinery exports in 2020 and 7.7% in 2024.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35240" y="4539996"/>
            <a:ext cx="1371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772400" y="4178808"/>
            <a:ext cx="1143000" cy="722376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7845552" y="4178808"/>
            <a:ext cx="1014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</a:t>
            </a: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or exchange rates?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988552" y="4334256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8988552" y="43342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close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976104" y="4178808"/>
            <a:ext cx="1755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Cranes 0–10% cheaper; SANY 20t about 7% below Komatsu. A weaker yen favoured Japan. Credit and stock cut upfront cost (Ch 3).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635240" y="5326380"/>
            <a:ext cx="1371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772400" y="4965192"/>
            <a:ext cx="1143000" cy="722376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7845552" y="4965192"/>
            <a:ext cx="1014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</a:t>
            </a: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 low?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988552" y="51206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 txBox="1"/>
          <p:nvPr/>
        </p:nvSpPr>
        <p:spPr>
          <a:xfrm>
            <a:off x="8988552" y="5120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9976104" y="4965192"/>
            <a:ext cx="1755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now finance Chinese machines: Adira doubled, Mandiri +64% (2024). Demanding work differs (Ch 6).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85216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 </a:t>
            </a:r>
            <a:r>
              <a:rPr lang="en-US" sz="12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buyers and dealers switch to little-known brands at similar list prices?   </a:t>
            </a: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2 answers with SANY in Indonesia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6272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2026, Chapter 1</a:t>
            </a:r>
            <a:endParaRPr lang="en-US" sz="1000" dirty="0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>
            <a:spLocks/>
          </p:cNvSpPr>
          <p:nvPr/>
        </p:nvSpPr>
        <p:spPr>
          <a:xfrm>
            <a:off x="11539728" y="6364224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 ›  CHAPTER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Chapter 2: SANY won Indonesia through four moves, each enabling the next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in detail: SANY answered each gate in turn; the tags show which chapter tests each move more widely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161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CHAPTER 2 ASKS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a little-known brand become Indonesia's best-selling excavator?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216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Komatsu share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(2020) → 17% (Jan–Apr 2026)</a:t>
            </a:r>
            <a:endParaRPr lang="en-US" sz="1100" dirty="0"/>
          </a:p>
          <a:p>
            <a:pPr marL="0" indent="0">
              <a:buNone/>
            </a:pPr>
            <a:r>
              <a:rPr lang="en-US" sz="1100" b="1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43,000+ machines delivered by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74927" y="1783080"/>
            <a:ext cx="0" cy="32004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03545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167128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  ·   CH 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before local buyers trust the brand?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565806" y="2359152"/>
            <a:ext cx="128016" cy="14630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74927" y="2761488"/>
            <a:ext cx="0" cy="118872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035454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1852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Chinese-owned nickel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2035454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0352" y="3502152"/>
            <a:ext cx="18891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560+ machines to Tsingshan's Morowali park, 2014–19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followed: North Sumatra 30% of excavator sales (2022)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Jhonlin Group: up to 2,000 units (2024)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66974" y="2103120"/>
            <a:ext cx="203545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858414" y="2167128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  ·   CH 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buyers get credit for an unknown brand?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875581" y="2359152"/>
            <a:ext cx="128016" cy="14630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84702" y="2761488"/>
            <a:ext cx="0" cy="118872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66974" y="2880360"/>
            <a:ext cx="2035454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858414" y="2880360"/>
            <a:ext cx="1852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lender, years early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66974" y="3410712"/>
            <a:ext cx="2035454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840126" y="3502152"/>
            <a:ext cx="18891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 Leasing 2017; low-deposit loans 2018; "buy without cash" 2019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 share gain came 2–4 years later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lender BNI's finance arm still declined non-Japanese, non-European brands in Sep 2024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6749" y="2103120"/>
            <a:ext cx="203545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168189" y="2167128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  ·   CH 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buyers does the leader serve thinly?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85355" y="2359152"/>
            <a:ext cx="128016" cy="14630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94476" y="2761488"/>
            <a:ext cx="0" cy="118872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76749" y="2880360"/>
            <a:ext cx="2035454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68189" y="2880360"/>
            <a:ext cx="1852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Nickel miners using 20–30t machines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6749" y="3410712"/>
            <a:ext cx="2035454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149901" y="3502152"/>
            <a:ext cx="18891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Nickel mines use 20–30t excavators; coal mines up to 300t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Komatsu's distributor focused on coal customers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2021: SANY 26%, Komatsu 22%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86523" y="2103120"/>
            <a:ext cx="203545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477963" y="2167128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  ·   CH 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stock ready when buyers are squeezed?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495130" y="2359152"/>
            <a:ext cx="128016" cy="14630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04250" y="2761488"/>
            <a:ext cx="0" cy="118872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86523" y="2880360"/>
            <a:ext cx="2035454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477963" y="2880360"/>
            <a:ext cx="1852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from Karawang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86523" y="3410712"/>
            <a:ext cx="2035454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7459675" y="3502152"/>
            <a:ext cx="18891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price: US$275.64 (May 2022) → US$125.85 (Jan 2024)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BFI Finance: buyers chose brands in stock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market +5,600 units; Komatsu +about 100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96298" y="2103120"/>
            <a:ext cx="2035454" cy="658368"/>
          </a:xfrm>
          <a:prstGeom prst="roundRect">
            <a:avLst>
              <a:gd name="adj" fmla="val 6944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787738" y="2167128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 ·   CH 4–5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buyers once they are won?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714025" y="2761488"/>
            <a:ext cx="0" cy="118872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696298" y="2880360"/>
            <a:ext cx="2035454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787738" y="2880360"/>
            <a:ext cx="1852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parts, a plant, its own lender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96298" y="3410712"/>
            <a:ext cx="2035454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769450" y="3502152"/>
            <a:ext cx="18891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3 (2015) → 26 (2021)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m² parts warehouse in Jakarta (2025)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Karawang makes one model with local parts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finance company licensed Sep 2026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3309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made on their own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hold buyers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68880" y="5614416"/>
            <a:ext cx="2516429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76749" y="5330952"/>
            <a:ext cx="203545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168189" y="5330952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cut of about 20% (2021): coal buyers returned to Komatsu when coal prices spiked in 2022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86523" y="5330952"/>
            <a:ext cx="203545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7477963" y="5330952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Tractors' cheaper second range: Komatsu's share kept falling in 2025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696298" y="5330952"/>
            <a:ext cx="2035454" cy="566928"/>
          </a:xfrm>
          <a:prstGeom prst="roundRect">
            <a:avLst>
              <a:gd name="adj" fmla="val 8065"/>
            </a:avLst>
          </a:prstGeom>
          <a:solidFill>
            <a:srgbClr val="EEF4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9787738" y="5330952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r>
              <a:rPr lang="en-US" sz="10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 3 tests gates 1–4 on other buyers; Ch 4 the dealer network; Ch 5 the plant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272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2026, Chapter 2</a:t>
            </a:r>
            <a:endParaRPr lang="en-US" sz="1000" dirty="0"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>
            <a:spLocks/>
          </p:cNvSpPr>
          <p:nvPr/>
        </p:nvSpPr>
        <p:spPr>
          <a:xfrm>
            <a:off x="11539728" y="6364224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›  CHAPTER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Chapter 3: three gates decide whether a buyer switches brand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in detail: a reason to look, a way to pay, a machine in stock; where a gate fails, little moves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161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92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CHAPTER 3 ASKS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little-known Chinese brands win buyers away from the market leader?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3649" y="1783080"/>
            <a:ext cx="0" cy="27432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  ·   L1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leader serve this buyer thinly?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43250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63649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two ways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261289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30352" y="3410712"/>
            <a:ext cx="2466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who followed from China: XCMG's first electric loaders went to Tsingshan (2026)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Haitian's overseas sales +26.4% (2025); Chinese investors in Thai estates 6% → 17%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Neglected niche: SANY took 52% of India's long-reach excavators in about 18 months (own figure)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44418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435858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  ·   L2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buyer borrow for this brand?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30468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50867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44418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435858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credit removes the barrier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44418" y="3319272"/>
            <a:ext cx="261289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417570" y="3410712"/>
            <a:ext cx="2466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85–90% of equipment bought on credit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gave its Indian importer up to 3 years' credit; Chinese crane imports 163 → 938 a year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J&amp;K Bank funds about 80% of SANY India's sales in that 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1636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23076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  ·   L2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buyer get the machine now?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917686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38085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1636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323076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stock fills the gap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1636" y="3319272"/>
            <a:ext cx="261289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304788" y="3410712"/>
            <a:ext cx="2466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2024–25: buyers chose brands in stock (Ch 2)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Cummins sold out of large gensets into H2 2028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share of Malaysia's large-genset imports: 20% → 84% (2019–24); US$595m in 2025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18854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EAF7F5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210294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switches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425303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18854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210294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list price close to the leader's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18854" y="3319272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EAF7F5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210294" y="3319272"/>
            <a:ext cx="24300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</a:t>
            </a:r>
            <a:r>
              <a:rPr lang="en-US" sz="11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where the leader is thin</a:t>
            </a:r>
            <a:endParaRPr lang="en-US" sz="1100" dirty="0"/>
          </a:p>
          <a:p>
            <a:pPr marL="0" indent="0">
              <a:buNone/>
            </a:pPr>
            <a:r>
              <a:rPr lang="en-US" sz="11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</a:t>
            </a:r>
            <a:r>
              <a:rPr lang="en-US" sz="11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buying easy when the leader can't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164574" y="4069080"/>
            <a:ext cx="2521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gensets sit at the costly end, an exception Chapter 6 returns to. Warning signs for established makers are collected in Chapter 8.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63649" y="4782312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" y="5010912"/>
            <a:ext cx="261289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548640" y="5084064"/>
            <a:ext cx="243001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kern="0" spc="5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 →  LITTLE MOVES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excavators: China 35% → 36%, Japan 40% → 51% (2019–24). India backhoes: JCB 34,632 registrations, LiuGong 1,061 (FY26)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50867" y="4782312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44418" y="5010912"/>
            <a:ext cx="261289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3435858" y="5084064"/>
            <a:ext cx="243001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kern="0" spc="5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OFFER  →  IT STOPS AT THE FACTORY GATE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Chinese maker found financing compressors, pumps, machine tools or robot arms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18854" y="5010912"/>
            <a:ext cx="2612898" cy="896112"/>
          </a:xfrm>
          <a:prstGeom prst="roundRect">
            <a:avLst>
              <a:gd name="adj" fmla="val 5102"/>
            </a:avLst>
          </a:prstGeom>
          <a:solidFill>
            <a:srgbClr val="EAF7F5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210294" y="5010912"/>
            <a:ext cx="24300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r>
              <a:rPr lang="en-US" sz="105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buyers reach these machines through a dealer or a lender  →  Chapter 4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272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2026, Chapter 3</a:t>
            </a:r>
            <a:endParaRPr lang="en-US" sz="1000" dirty="0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11539728" y="6364224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›  CHAPTER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Chapter 4: dealers follow the brand that can help them grow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in detail: a need for growth, an offer, and the income that follows; then the routes to the buyer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161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92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CHAPTER 4 ASKS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dealers, lenders and local partners take on little-known Chinese brands?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3649" y="1783080"/>
            <a:ext cx="0" cy="274320"/>
          </a:xfrm>
          <a:prstGeom prst="line">
            <a:avLst/>
          </a:prstGeom>
          <a:noFill/>
          <a:ln w="1587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current brand help the dealer grow?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43250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63649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dealers changed brands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26128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30352" y="3410712"/>
            <a:ext cx="24665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Intraco Penta dropped Volvo CE for LiuGong (2020); LiuGong reached about 4% within months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Kobexindo's strategy centres on Chinese products; machine sales +47% (H1 2026)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44418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435858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new maker put on the table?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30468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50867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44418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435858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ownership, stock, 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44418" y="3319272"/>
            <a:ext cx="26128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417570" y="3410712"/>
            <a:ext cx="24665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finance: LiuGong with UOB since 2018; SANY deals of about RMB1.45bn (2025)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Shandong Heavy owns 40% of MNC Leasing; XCMG and GM Tractors finance JV (2026)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parts from Karawang and Jakarta; XCMG repair promise of 24 hours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1636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23076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dealer earn over the machine's life?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917686" y="231343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38085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1636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323076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income follows the installed 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1636" y="3319272"/>
            <a:ext cx="26128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304788" y="3410712"/>
            <a:ext cx="24665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Tractors: 31% of construction-machinery revenue from parts and service (2025)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Intraco: Rp220bn from parts, Rp354bn from machines (9M 2025)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LiuGong machines sold since 2020 nearing drivetrain replacement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18854" y="2057400"/>
            <a:ext cx="2612898" cy="658368"/>
          </a:xfrm>
          <a:prstGeom prst="roundRect">
            <a:avLst>
              <a:gd name="adj" fmla="val 6944"/>
            </a:avLst>
          </a:prstGeom>
          <a:solidFill>
            <a:srgbClr val="EAF7F5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210294" y="2121408"/>
            <a:ext cx="2430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·   L3</a:t>
            </a:r>
            <a:endParaRPr lang="en-US" sz="1000" dirty="0"/>
          </a:p>
          <a:p>
            <a:pPr marL="0" indent="0">
              <a:buNone/>
            </a:pPr>
            <a:r>
              <a:rPr lang="en-US" sz="12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dealer carries the brand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425303" y="2715768"/>
            <a:ext cx="0" cy="9144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18854" y="2807208"/>
            <a:ext cx="2612898" cy="420624"/>
          </a:xfrm>
          <a:prstGeom prst="roundRect">
            <a:avLst>
              <a:gd name="adj" fmla="val 1087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210294" y="2807208"/>
            <a:ext cx="2430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dealers a reason to carry 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18854" y="3319272"/>
            <a:ext cx="2612898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210294" y="3364992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5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loyalty: Tata Hitachi sells about 90% through some 230 outlets.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base: Chinese-brand dealers lean on new sales, which fall when credit tightens.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18854" y="4325112"/>
            <a:ext cx="2612898" cy="475488"/>
          </a:xfrm>
          <a:prstGeom prst="roundRect">
            <a:avLst>
              <a:gd name="adj" fmla="val 9615"/>
            </a:avLst>
          </a:prstGeom>
          <a:solidFill>
            <a:srgbClr val="EAF7F5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210294" y="4325112"/>
            <a:ext cx="24300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r>
              <a:rPr lang="en-US" sz="100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parts depend on local plants  →  Chapter 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95604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carried: five routes to the buyer, grouped by who controls the relationship</a:t>
            </a:r>
            <a:r>
              <a:rPr lang="en-US" sz="11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(Chapter 7 tests whether control moves a brand up)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257800"/>
            <a:ext cx="21671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530352" y="5312664"/>
            <a:ext cx="20208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CONTROLS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Own subsidiary, outlets or importer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India: 260+ sales and service points; XCMG's crane importer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34056" y="5257800"/>
            <a:ext cx="21671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2807208" y="5312664"/>
            <a:ext cx="20208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CONTROLS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Network from an acquired brand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through Schwing Stetter India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10912" y="5257800"/>
            <a:ext cx="2167128" cy="868680"/>
          </a:xfrm>
          <a:prstGeom prst="roundRect">
            <a:avLst>
              <a:gd name="adj" fmla="val 5263"/>
            </a:avLst>
          </a:prstGeom>
          <a:solidFill>
            <a:srgbClr val="EAF7F5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5084064" y="5312664"/>
            <a:ext cx="20208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SHARED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Joint venture with a local partner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Indonesia, 44 branches; Heli with Siam Motors Parts; Siasun with Somboon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87768" y="5257800"/>
            <a:ext cx="21671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360920" y="5312664"/>
            <a:ext cx="20208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CONTROLS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Independent dealer for the brand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Tractors for XCMG; Om Infracore for SANY India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64624" y="5257800"/>
            <a:ext cx="21671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9637776" y="5312664"/>
            <a:ext cx="20208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CONTROLS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Multi-brand distributor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Intraco Penta, Kobexindo; Leo pumps via about 12 distributors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272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2026, Chapter 4</a:t>
            </a:r>
            <a:endParaRPr lang="en-US" sz="1000" dirty="0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11539728" y="6364224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›  CHAPTER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4213D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Chapter 5: makers already inside the market barely felt the barriers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2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in detail: barriers block, reward or steer; one question decides how much each hurts a Chinese maker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161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92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CHAPTER 5 ASKS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Chinese makers when governments put up barriers?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562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AND RULES IN FORCE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514600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121408"/>
            <a:ext cx="2331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IMPORTS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anti-dumping duties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22.5–147% (Dec 2023); moulding machines up to 63% (Jun 2025). Cranes recommended Sep 2025, not imposed by Aug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2638044"/>
            <a:ext cx="164592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2514600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74136"/>
            <a:ext cx="2331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LOCAL PRODUCTION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local content in public buying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required where available; extra credit for investing since Dec 2025. Komatsu 20t scores 51.2%, SANY's listed import 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3890772"/>
            <a:ext cx="164592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562856"/>
            <a:ext cx="2514600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626864"/>
            <a:ext cx="2331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5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INVESTMENT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Press Note 2 (May 2026)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approval for capital-goods investment from land-border countries, with Indian majority ownership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5143500"/>
            <a:ext cx="164592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36392" y="2638044"/>
            <a:ext cx="0" cy="2505456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36392" y="3813048"/>
            <a:ext cx="155448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0" y="3127248"/>
            <a:ext cx="1920240" cy="1371600"/>
          </a:xfrm>
          <a:prstGeom prst="diamond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675888" y="3374136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>
                <a:solidFill>
                  <a:srgbClr val="92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9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maker already produce inside the market?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813048"/>
            <a:ext cx="137160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49240" y="2249424"/>
            <a:ext cx="0" cy="187452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49240" y="2249424"/>
            <a:ext cx="182880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2120" y="2057400"/>
            <a:ext cx="6199632" cy="384048"/>
          </a:xfrm>
          <a:prstGeom prst="roundRect">
            <a:avLst>
              <a:gd name="adj" fmla="val 1190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641848" y="2057400"/>
            <a:ext cx="598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 ·   barely affected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49240" y="4123944"/>
            <a:ext cx="182880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32120" y="3931920"/>
            <a:ext cx="6199632" cy="384048"/>
          </a:xfrm>
          <a:prstGeom prst="roundRect">
            <a:avLst>
              <a:gd name="adj" fmla="val 1190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641848" y="3931920"/>
            <a:ext cx="598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 ·   imports fall, then plants follow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532120" y="2532888"/>
            <a:ext cx="3031236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605272" y="2596896"/>
            <a:ext cx="28849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equipment, India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makes 95%+ of the construction equipment it buys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built at Chakan in 2009–10, years before leading any segment; 14,000+ a year after 2025 expansion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India revenue: Rs970 crore (2016) → Rs8,000–9,000 crore (2024)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00516" y="2532888"/>
            <a:ext cx="3031236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773668" y="2596896"/>
            <a:ext cx="28849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equipment, India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Yizumi's Indian plant had delivered 3,500 machines by Sep 2025, as moulding duties cut imports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HSG says it still led laser-cutting sales in 2023 and 2024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petitioners included Shibaura and Milacron, established makers with Indian plants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4407408"/>
            <a:ext cx="3031236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605272" y="4471416"/>
            <a:ext cx="28849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fall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from China: US$137m (2023) → US$63m (2024); share 66% → 47%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machines: China 53% → 47% in a year, Japan 21% → 25%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brands' Chinese plants were hit too, including Bystronic's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rot="5400000">
            <a:off x="8567928" y="5010912"/>
            <a:ext cx="128016" cy="146304"/>
          </a:xfrm>
          <a:prstGeom prst="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00516" y="4407408"/>
            <a:ext cx="3031236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773668" y="4471416"/>
            <a:ext cx="28849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plants follow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HSG Laser: US$10m Indian factory announced 2025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LiuGong: US$317m Karawang plant, groundbreaking Jul 2026, 5,000 machines a year in phase 1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26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Intraco expects higher local-content scores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870448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EAF7F5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594360" y="5870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Produce locally before the barriers rise.  </a:t>
            </a:r>
            <a:r>
              <a:rPr lang="en-US" sz="115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plants win tenders and shield against duties. As Chinese makers build them, the contest moves to service   </a:t>
            </a:r>
            <a:r>
              <a:rPr lang="en-US" sz="115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6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272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China Playbook for Emerging Asia, working draft v3, 12 October 2026, Chapter 5</a:t>
            </a:r>
            <a:endParaRPr lang="en-US" sz="1000" dirty="0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11539728" y="6364224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Playbook: scope and narrative</dc:title>
  <dc:subject>PptxGenJS Presentation</dc:subject>
  <dc:creator>PptxGenJS</dc:creator>
  <cp:lastModifiedBy>PptxGenJS</cp:lastModifiedBy>
  <cp:revision>5</cp:revision>
  <dcterms:created xsi:type="dcterms:W3CDTF">2026-10-12T13:09:06Z</dcterms:created>
  <dcterms:modified xsi:type="dcterms:W3CDTF">2026-10-13T05:11:32Z</dcterms:modified>
</cp:coreProperties>
</file>